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070348"/>
            <a:ext cx="8979408" cy="73152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3152"/>
            <a:ext cx="2560320" cy="4997196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73152"/>
            <a:ext cx="54864" cy="4997196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22960"/>
            <a:ext cx="2377440" cy="329184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CONFIDENTIAL STRATEGY BRIEF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3258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NexGen Panel Mentoring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" y="2240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ADS + NexGen Growth Strategy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" y="2834640"/>
            <a:ext cx="3200400" cy="36576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971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2A4"/>
                </a:solidFill>
              </a:rPr>
              <a:t>Subscription Model · EPLAN Partnership · BD Pipeline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2A4"/>
                </a:solidFill>
              </a:rPr>
              <a:t>Consulting Strategy · Personal Role Proposal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3931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Prepared for: Owner &amp; Creative/Design Group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38544" y="1097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2025–2027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2606040"/>
            <a:ext cx="224028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606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6,000+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29260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UL Shops in 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3355848"/>
            <a:ext cx="224028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355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$900–$2,500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36758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Revenue Per Client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4105656"/>
            <a:ext cx="224028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1056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High Margin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44256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Low Overhead Model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A once-in-a-decade window in industrial automation consulting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023360" cy="73152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50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of 12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EPLAN customers surveyed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reported NO significant ROI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474720" cy="36576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Omaha-area distributor event survey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429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B4D8"/>
                </a:solidFill>
              </a:rPr>
              <a:t>That is not a software problem.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B4D8"/>
                </a:solidFill>
              </a:rPr>
              <a:t>That is an adoption problem.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B4D8"/>
                </a:solidFill>
              </a:rPr>
              <a:t>NexGen solves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420624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508760"/>
            <a:ext cx="54864" cy="62179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5087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BD0"/>
                </a:solidFill>
              </a:rPr>
              <a:t>6,000+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5087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UL-listed panel shops in the 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58568"/>
            <a:ext cx="420624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5856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25856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~$1.2B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225856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Estimated addressable consulting market in electrical automation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08376"/>
            <a:ext cx="420624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008376"/>
            <a:ext cx="54864" cy="621792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008376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50043"/>
                </a:solidFill>
              </a:rPr>
              <a:t>EPLAN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300837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Fastest growing electrical CAD platform — needs an ROI execution partner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420624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758184"/>
            <a:ext cx="54864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758184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ADS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375818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Only 1 of 12 partners demonstrating clear EPLAN ROI — a massive competitive moat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E50043"/>
                </a:solidFill>
              </a:rPr>
              <a:t>The hidden multiplier: NexGen consulting converts to ADS manufacturing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</a:rPr>
              <a:t>SUBSCRIPTION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Four tiers. High margin. Built on existing talent.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08483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2084832" cy="7315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68680"/>
            <a:ext cx="2084832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EPLAN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6276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BD0"/>
                </a:solidFill>
              </a:rPr>
              <a:t>$300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8600" y="199339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/month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" y="2267712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67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Targeted EPLAN support calls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2779776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97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Email Q&amp;A 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" y="3291840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Rollover 50% unused hours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" y="3803904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03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BD0"/>
                </a:solidFill>
              </a:rPr>
              <a:t>Best for: New EPLAN users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41448" y="868680"/>
            <a:ext cx="208483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41448" y="868680"/>
            <a:ext cx="208483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41448" y="868680"/>
            <a:ext cx="2084832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1448" y="8686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41448" y="16276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$400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441448" y="199339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/month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51176" y="2267712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0048" y="2267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Leadership strategy calls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51176" y="2779776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0048" y="27797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Process improvement coaching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51176" y="3291840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32918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Email support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51176" y="3803904"/>
            <a:ext cx="54864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0048" y="3803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Best for: Shop managers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54296" y="868680"/>
            <a:ext cx="208483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54296" y="868680"/>
            <a:ext cx="208483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54296" y="868680"/>
            <a:ext cx="2084832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54296" y="8686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54296" y="16276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</a:rPr>
              <a:t>$900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654296" y="199339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/month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64024" y="2267712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2267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Full EPLAN + Leadership access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64024" y="2779776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27797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Priority scheduling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64024" y="3291840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32918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Add-on quote discounts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64024" y="3803904"/>
            <a:ext cx="54864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3803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Best for: Growing shops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67144" y="868680"/>
            <a:ext cx="208483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67144" y="868680"/>
            <a:ext cx="2084832" cy="73152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67144" y="868680"/>
            <a:ext cx="2084832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8686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867144" y="16276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043"/>
                </a:solidFill>
              </a:rPr>
              <a:t>$2,500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6867144" y="199339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/month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76872" y="2267712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95744" y="2267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1-on-1 executive calls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76872" y="2779776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95744" y="27797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On-site consulting options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76872" y="3291840"/>
            <a:ext cx="54864" cy="27432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95744" y="32918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M&amp;A/outsource discussions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76872" y="3803904"/>
            <a:ext cx="54864" cy="274320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95744" y="3803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0043"/>
                </a:solidFill>
              </a:rPr>
              <a:t>Best for: Owners &amp; C-suite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28600" y="4956048"/>
            <a:ext cx="8686800" cy="54864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</a:rPr>
              <a:t>SMART ASSESSMENT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"Choose Your Own Journey" — Self-qualifying funnel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868680"/>
            <a:ext cx="219456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868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START: Tell us about your shop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0" cy="228600"/>
          </a:xfrm>
          <a:prstGeom prst="line">
            <a:avLst/>
          </a:prstGeom>
          <a:noFill/>
          <a:ln w="25400">
            <a:solidFill>
              <a:srgbClr val="008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645920"/>
            <a:ext cx="208483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645920"/>
            <a:ext cx="2084832" cy="7315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8BD0"/>
                </a:solidFill>
              </a:rPr>
              <a:t>PROCESS LEVEL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19933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How do you build panels today?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1645920"/>
            <a:ext cx="208483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1645920"/>
            <a:ext cx="2084832" cy="7315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8BD0"/>
                </a:solidFill>
              </a:rPr>
              <a:t>DESIGN TOOLS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31720" y="19933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Do you use CAD, EPLAN, or eBUILD?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645920"/>
            <a:ext cx="208483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645920"/>
            <a:ext cx="2084832" cy="7315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8BD0"/>
                </a:solidFill>
              </a:rPr>
              <a:t>TEAM STRUCTURE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80560" y="19933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Electricians, builders, or engineers?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1645920"/>
            <a:ext cx="208483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1645920"/>
            <a:ext cx="2084832" cy="7315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8BD0"/>
                </a:solidFill>
              </a:rPr>
              <a:t>AUTOMATION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29400" y="19933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Wire processing, CNC, robotics?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468880"/>
            <a:ext cx="0" cy="274320"/>
          </a:xfrm>
          <a:prstGeom prst="line">
            <a:avLst/>
          </a:prstGeom>
          <a:noFill/>
          <a:ln w="25400">
            <a:solidFill>
              <a:srgbClr val="008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</a:rPr>
              <a:t>Assessment Results → Recommended Package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108960"/>
            <a:ext cx="2084832" cy="128016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31089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0–4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3456432"/>
            <a:ext cx="208483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34930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EPLAN Essentials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" y="3904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Manual process, no design tools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95728" y="3108960"/>
            <a:ext cx="2084832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95728" y="31089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5–9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95728" y="3456432"/>
            <a:ext cx="208483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95728" y="34930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Leadership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95728" y="3904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Some tools, needs strategy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08576" y="3108960"/>
            <a:ext cx="2084832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31089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10–14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08576" y="3456432"/>
            <a:ext cx="208483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34930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Access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08576" y="3904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Moderate automation, scaling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21424" y="3108960"/>
            <a:ext cx="2084832" cy="1280160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31089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15+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21424" y="3456432"/>
            <a:ext cx="208483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34930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 Partnership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21424" y="3904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Advanced shop, executive level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  After assessment: Email opt-in · Newsletter signup · Referral link · Contact form for BD outreach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</a:rPr>
              <a:t>EPLAN PARTNERSHIP — LANDING PAGE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One-page resource for EPLAN managers, reps, and distributors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24356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8BD0"/>
                </a:solidFill>
              </a:rPr>
              <a:t>SINGLE MESSAGE: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868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EPLAN provides the platform. NexGen helps customers achieve the operational payoff — faster.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206240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83080"/>
            <a:ext cx="502920" cy="91440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30552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Speed Adoption. Improve ROI. Strengthen Retention.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07208"/>
            <a:ext cx="4206240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07208"/>
            <a:ext cx="50292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0720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80720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Now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154680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Early movers build compounding advantage. The gap widens daily.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31336"/>
            <a:ext cx="4206240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31336"/>
            <a:ext cx="502920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3133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83133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Two Ways NexGen Helps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178808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New customer acceleration + Existing customer ROI recovery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783080"/>
            <a:ext cx="4206240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783080"/>
            <a:ext cx="502920" cy="914400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17830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Proof Problem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130552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11/12 surveyed customers: no meaningful ROI → NexGen closes that gap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807208"/>
            <a:ext cx="4206240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807208"/>
            <a:ext cx="50292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80720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280720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NexGen Is Different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154680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Real-world experience. ADS is the case study. NexGen is the playbook.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831336"/>
            <a:ext cx="4206240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831336"/>
            <a:ext cx="502920" cy="91440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83133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83133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Call to Action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4178808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Low-friction CTA: Let's talk. Book a call. No gate, no form wall.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12193B"/>
          </a:solidFill>
          <a:ln w="12700">
            <a:solidFill>
              <a:srgbClr val="121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Design note: Use EPLAN blue (#008BD0) + EPLAN red (#E50043) alongside NexGen palette — no EPLAN logo. Make it feel like home to their team.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</a:rPr>
              <a:t>THE BD PIPELINE — THE HIDDEN MULTIPLIER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Consulting is the front door. Manufacturing is the back office.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530352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AWARENESS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EPLAN distributor event QR card · Landing page · Newsletter opt-in · Social content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993392"/>
            <a:ext cx="731520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93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ENGAGEMENT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99339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Assessment tool completed · Subscription signed · Email outreach begins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54480" y="2615184"/>
            <a:ext cx="6035040" cy="5303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6151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CONSULTING CLIENT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261518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Active $300–$2,500/month subscriber · Add-on quotes · Referral links shared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3236976"/>
            <a:ext cx="4754880" cy="530352"/>
          </a:xfrm>
          <a:prstGeom prst="rect">
            <a:avLst/>
          </a:prstGeom>
          <a:solidFill>
            <a:srgbClr val="C95073"/>
          </a:solidFill>
          <a:ln w="12700">
            <a:solidFill>
              <a:srgbClr val="C950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2369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ADS PROSPECT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32369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Shop tour scheduled · Outsourced panel building discussion · Wire harness quoting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3858768"/>
            <a:ext cx="3474720" cy="530352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8587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STRATEGIC PARTNER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8587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M&amp;A conversation · JV opportunity · Long-term manufacturing relationship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4572000"/>
            <a:ext cx="2286000" cy="457200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6,000 UL shops.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Even 1% = 60 new ADS clients.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50043"/>
                </a:solidFill>
              </a:rPr>
              <a:t>NEXT STEPS — LET'S MOVE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84832" cy="457200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89888"/>
            <a:ext cx="54864" cy="749808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138988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Finalize subscription tier pricing &amp; structure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194560"/>
            <a:ext cx="54864" cy="749808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19456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Assign content lead for each tier's call themes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999232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999232"/>
            <a:ext cx="54864" cy="749808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299923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Brief creative team on landing page concept &amp; color palette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803904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803904"/>
            <a:ext cx="54864" cy="749808"/>
          </a:xfrm>
          <a:prstGeom prst="rect">
            <a:avLst/>
          </a:prstGeom>
          <a:solidFill>
            <a:srgbClr val="008BD0"/>
          </a:solidFill>
          <a:ln w="12700">
            <a:solidFill>
              <a:srgbClr val="008B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3803904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Book scoping call with EPLAN contact (Wed or Fri)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41448" y="868680"/>
            <a:ext cx="208483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868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41448" y="1389888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41448" y="1389888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9464" y="138988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Launch MVP landing page (EPLAN-focused, QR-coded card)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41448" y="2194560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41448" y="219456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9464" y="219456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Deploy assessment tool (choose-your-own-journey)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41448" y="2999232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41448" y="2999232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9464" y="299923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Begin EPLAN Electric P8 training (personal roadmap starts)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41448" y="3803904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41448" y="380390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3803904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Activate newsletter opt-in and referral link infrastructure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54296" y="868680"/>
            <a:ext cx="2084832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868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2–3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54296" y="1389888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54296" y="1389888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138988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Recruit first 10 pilot subscribers (leverage existing network)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54296" y="2194560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54296" y="2194560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219456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Collect testimonials — turn into infographic social proof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54296" y="2999232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54296" y="2999232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299923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Present NexGen value prop at next EPLAN distributor event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54296" y="3803904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54296" y="3803904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3803904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Identify first 5 ADS manufacturing conversion candidates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67144" y="868680"/>
            <a:ext cx="2084832" cy="457200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67144" y="868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6+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67144" y="1389888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67144" y="1389888"/>
            <a:ext cx="54864" cy="749808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95160" y="138988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Review MRR — target $45K+/month from subscriptions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67144" y="2194560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67144" y="2194560"/>
            <a:ext cx="54864" cy="749808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219456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Evaluate additional landing pages (Shain's concepts)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67144" y="2999232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67144" y="2999232"/>
            <a:ext cx="54864" cy="749808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5160" y="299923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Launch EPLAN Certified consulting as billable service line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67144" y="3803904"/>
            <a:ext cx="2084832" cy="749808"/>
          </a:xfrm>
          <a:prstGeom prst="rect">
            <a:avLst/>
          </a:prstGeom>
          <a:solidFill>
            <a:srgbClr val="243560"/>
          </a:solidFill>
          <a:ln w="12700">
            <a:solidFill>
              <a:srgbClr val="2E3D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67144" y="3803904"/>
            <a:ext cx="54864" cy="749808"/>
          </a:xfrm>
          <a:prstGeom prst="rect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95160" y="3803904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Initiate first M&amp;A / outsourcing conversation at Elite tier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NexGen Panel Mentoring — Strategy &amp; Growth Plan</dc:title>
  <dc:subject>PptxGenJS Presentation</dc:subject>
  <dc:creator>PptxGenJS</dc:creator>
  <cp:lastModifiedBy>PptxGenJS</cp:lastModifiedBy>
  <cp:revision>1</cp:revision>
  <dcterms:created xsi:type="dcterms:W3CDTF">2026-04-30T15:13:54Z</dcterms:created>
  <dcterms:modified xsi:type="dcterms:W3CDTF">2026-04-30T15:13:54Z</dcterms:modified>
</cp:coreProperties>
</file>